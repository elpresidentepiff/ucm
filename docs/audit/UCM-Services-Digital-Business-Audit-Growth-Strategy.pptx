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87ffc4974b48c2" /><Relationship Type="http://schemas.openxmlformats.org/officeDocument/2006/relationships/extended-properties" Target="/docProps/app.xml" Id="R63383a0bb6b34e19" /><Relationship Type="http://schemas.openxmlformats.org/officeDocument/2006/relationships/officeDocument" Target="/ppt/presentation.xml" Id="R1fc0303a84be48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a3d8ad347d4dde"/>
  </p:sldMasterIdLst>
  <p:notesMasterIdLst>
    <p:notesMasterId xmlns:r="http://schemas.openxmlformats.org/officeDocument/2006/relationships" r:id="R49663fbef3094ed6"/>
  </p:notesMasterIdLst>
  <p:sldIdLst>
    <p:sldId xmlns:r="http://schemas.openxmlformats.org/officeDocument/2006/relationships" id="256" r:id="R439a7162bf984303"/>
    <p:sldId xmlns:r="http://schemas.openxmlformats.org/officeDocument/2006/relationships" id="257" r:id="R62dc759306ab407c"/>
    <p:sldId xmlns:r="http://schemas.openxmlformats.org/officeDocument/2006/relationships" id="258" r:id="R7ff05d4799e4465e"/>
    <p:sldId xmlns:r="http://schemas.openxmlformats.org/officeDocument/2006/relationships" id="259" r:id="R7e671be011334767"/>
    <p:sldId xmlns:r="http://schemas.openxmlformats.org/officeDocument/2006/relationships" id="260" r:id="R1f07056132394cb6"/>
    <p:sldId xmlns:r="http://schemas.openxmlformats.org/officeDocument/2006/relationships" id="261" r:id="Rf4f86563e0004a93"/>
    <p:sldId xmlns:r="http://schemas.openxmlformats.org/officeDocument/2006/relationships" id="262" r:id="Rfe43e471cf23462a"/>
    <p:sldId xmlns:r="http://schemas.openxmlformats.org/officeDocument/2006/relationships" id="263" r:id="R5d63bd2964114516"/>
    <p:sldId xmlns:r="http://schemas.openxmlformats.org/officeDocument/2006/relationships" id="264" r:id="R0c32c53a5a214d29"/>
    <p:sldId xmlns:r="http://schemas.openxmlformats.org/officeDocument/2006/relationships" id="265" r:id="R4b14b88bce8c4ff3"/>
    <p:sldId xmlns:r="http://schemas.openxmlformats.org/officeDocument/2006/relationships" id="266" r:id="R6ddec0c7ae2745d0"/>
    <p:sldId xmlns:r="http://schemas.openxmlformats.org/officeDocument/2006/relationships" id="267" r:id="R6c6ab64cb3194566"/>
    <p:sldId xmlns:r="http://schemas.openxmlformats.org/officeDocument/2006/relationships" id="268" r:id="R74aeb88ed9c34b42"/>
    <p:sldId xmlns:r="http://schemas.openxmlformats.org/officeDocument/2006/relationships" id="269" r:id="R99beaa7b8bf34539"/>
    <p:sldId xmlns:r="http://schemas.openxmlformats.org/officeDocument/2006/relationships" id="270" r:id="R1622c3a8314a4f40"/>
    <p:sldId xmlns:r="http://schemas.openxmlformats.org/officeDocument/2006/relationships" id="271" r:id="Ree36e19b169a4b04"/>
    <p:sldId xmlns:r="http://schemas.openxmlformats.org/officeDocument/2006/relationships" id="272" r:id="Reb70122460be477b"/>
    <p:sldId xmlns:r="http://schemas.openxmlformats.org/officeDocument/2006/relationships" id="273" r:id="R14cc9566e9c544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a383c764d54989" /><Relationship Type="http://schemas.openxmlformats.org/officeDocument/2006/relationships/slideMaster" Target="/ppt/slideMasters/slideMaster1.xml" Id="R23a3d8ad347d4dde" /><Relationship Type="http://schemas.openxmlformats.org/officeDocument/2006/relationships/notesMaster" Target="/ppt/notesMasters/notesMaster1.xml" Id="R49663fbef3094ed6" /><Relationship Type="http://schemas.openxmlformats.org/officeDocument/2006/relationships/presProps" Target="/ppt/presProps.xml" Id="R112f0a93f56d4ae3" /><Relationship Type="http://schemas.openxmlformats.org/officeDocument/2006/relationships/tableStyles" Target="/ppt/tableStyles.xml" Id="Rae5b1c0dcc884499" /><Relationship Type="http://schemas.openxmlformats.org/officeDocument/2006/relationships/slide" Target="/ppt/slides/slide1.xml" Id="R439a7162bf984303" /><Relationship Type="http://schemas.openxmlformats.org/officeDocument/2006/relationships/slide" Target="/ppt/slides/slide2.xml" Id="R62dc759306ab407c" /><Relationship Type="http://schemas.openxmlformats.org/officeDocument/2006/relationships/slide" Target="/ppt/slides/slide3.xml" Id="R7ff05d4799e4465e" /><Relationship Type="http://schemas.openxmlformats.org/officeDocument/2006/relationships/slide" Target="/ppt/slides/slide4.xml" Id="R7e671be011334767" /><Relationship Type="http://schemas.openxmlformats.org/officeDocument/2006/relationships/slide" Target="/ppt/slides/slide5.xml" Id="R1f07056132394cb6" /><Relationship Type="http://schemas.openxmlformats.org/officeDocument/2006/relationships/slide" Target="/ppt/slides/slide6.xml" Id="Rf4f86563e0004a93" /><Relationship Type="http://schemas.openxmlformats.org/officeDocument/2006/relationships/slide" Target="/ppt/slides/slide7.xml" Id="Rfe43e471cf23462a" /><Relationship Type="http://schemas.openxmlformats.org/officeDocument/2006/relationships/slide" Target="/ppt/slides/slide8.xml" Id="R5d63bd2964114516" /><Relationship Type="http://schemas.openxmlformats.org/officeDocument/2006/relationships/slide" Target="/ppt/slides/slide9.xml" Id="R0c32c53a5a214d29" /><Relationship Type="http://schemas.openxmlformats.org/officeDocument/2006/relationships/slide" Target="/ppt/slides/slide10.xml" Id="R4b14b88bce8c4ff3" /><Relationship Type="http://schemas.openxmlformats.org/officeDocument/2006/relationships/slide" Target="/ppt/slides/slide11.xml" Id="R6ddec0c7ae2745d0" /><Relationship Type="http://schemas.openxmlformats.org/officeDocument/2006/relationships/slide" Target="/ppt/slides/slide12.xml" Id="R6c6ab64cb3194566" /><Relationship Type="http://schemas.openxmlformats.org/officeDocument/2006/relationships/slide" Target="/ppt/slides/slide13.xml" Id="R74aeb88ed9c34b42" /><Relationship Type="http://schemas.openxmlformats.org/officeDocument/2006/relationships/slide" Target="/ppt/slides/slide14.xml" Id="R99beaa7b8bf34539" /><Relationship Type="http://schemas.openxmlformats.org/officeDocument/2006/relationships/slide" Target="/ppt/slides/slide15.xml" Id="R1622c3a8314a4f40" /><Relationship Type="http://schemas.openxmlformats.org/officeDocument/2006/relationships/slide" Target="/ppt/slides/slide16.xml" Id="Ree36e19b169a4b04" /><Relationship Type="http://schemas.openxmlformats.org/officeDocument/2006/relationships/slide" Target="/ppt/slides/slide17.xml" Id="Reb70122460be477b" /><Relationship Type="http://schemas.openxmlformats.org/officeDocument/2006/relationships/slide" Target="/ppt/slides/slide18.xml" Id="R14cc9566e9c544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a3b4ecd798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16a6d8061c4956" /><Relationship Type="http://schemas.openxmlformats.org/officeDocument/2006/relationships/notesMaster" Target="/ppt/notesMasters/notesMaster1.xml" Id="R7c3b5120469d4c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c386a127054c8a" /><Relationship Type="http://schemas.openxmlformats.org/officeDocument/2006/relationships/notesMaster" Target="/ppt/notesMasters/notesMaster1.xml" Id="Rd20f1897d526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4e164b503b4579" /><Relationship Type="http://schemas.openxmlformats.org/officeDocument/2006/relationships/notesMaster" Target="/ppt/notesMasters/notesMaster1.xml" Id="R092b0e3c67d647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9d62899c9f44d6" /><Relationship Type="http://schemas.openxmlformats.org/officeDocument/2006/relationships/notesMaster" Target="/ppt/notesMasters/notesMaster1.xml" Id="Re1df75d80daa4f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68e7e426642d8" /><Relationship Type="http://schemas.openxmlformats.org/officeDocument/2006/relationships/notesMaster" Target="/ppt/notesMasters/notesMaster1.xml" Id="Rde9f13acc88e4f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66c597327a4c17" /><Relationship Type="http://schemas.openxmlformats.org/officeDocument/2006/relationships/notesMaster" Target="/ppt/notesMasters/notesMaster1.xml" Id="R502ec247743540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9423a551fc4e6f" /><Relationship Type="http://schemas.openxmlformats.org/officeDocument/2006/relationships/notesMaster" Target="/ppt/notesMasters/notesMaster1.xml" Id="R4e8824a91bcc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3fc31268734379" /><Relationship Type="http://schemas.openxmlformats.org/officeDocument/2006/relationships/notesMaster" Target="/ppt/notesMasters/notesMaster1.xml" Id="R57256da2cc96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3c970e881f4054" /><Relationship Type="http://schemas.openxmlformats.org/officeDocument/2006/relationships/notesMaster" Target="/ppt/notesMasters/notesMaster1.xml" Id="Ra588d423444146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5451c7800a42eb" /><Relationship Type="http://schemas.openxmlformats.org/officeDocument/2006/relationships/notesMaster" Target="/ppt/notesMasters/notesMaster1.xml" Id="R3da161d1fca541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a067c3104c4bde" /><Relationship Type="http://schemas.openxmlformats.org/officeDocument/2006/relationships/notesMaster" Target="/ppt/notesMasters/notesMaster1.xml" Id="R4cf57b6b23df4c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8504355574428a" /><Relationship Type="http://schemas.openxmlformats.org/officeDocument/2006/relationships/notesMaster" Target="/ppt/notesMasters/notesMaster1.xml" Id="R130ccb7a24594a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b2414a4bad4d12" /><Relationship Type="http://schemas.openxmlformats.org/officeDocument/2006/relationships/notesMaster" Target="/ppt/notesMasters/notesMaster1.xml" Id="R45334246643946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7076d55270447b" /><Relationship Type="http://schemas.openxmlformats.org/officeDocument/2006/relationships/notesMaster" Target="/ppt/notesMasters/notesMaster1.xml" Id="Rde9a2875eac340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2c66bf31dc4ee1" /><Relationship Type="http://schemas.openxmlformats.org/officeDocument/2006/relationships/notesMaster" Target="/ppt/notesMasters/notesMaster1.xml" Id="R7e6afa80dc604a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381c07217947a5" /><Relationship Type="http://schemas.openxmlformats.org/officeDocument/2006/relationships/notesMaster" Target="/ppt/notesMasters/notesMaster1.xml" Id="Ref917dc502f54f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2b099ede3c424e" /><Relationship Type="http://schemas.openxmlformats.org/officeDocument/2006/relationships/notesMaster" Target="/ppt/notesMasters/notesMaster1.xml" Id="R7583aac3725d44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22e83cd3f54374" /><Relationship Type="http://schemas.openxmlformats.org/officeDocument/2006/relationships/notesMaster" Target="/ppt/notesMasters/notesMaster1.xml" Id="R20dd5923af494e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ef24e52c5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e611c43ef04b7b" /><Relationship Type="http://schemas.openxmlformats.org/officeDocument/2006/relationships/slideLayout" Target="/ppt/slideLayouts/slideLayout1.xml" Id="R37fc043f154c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fc043f154c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34f8b9fc84b29" /><Relationship Type="http://schemas.openxmlformats.org/officeDocument/2006/relationships/notesSlide" Target="/ppt/notesSlides/notesSlide1.xml" Id="R84abc1df297442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c10093057420a" /><Relationship Type="http://schemas.openxmlformats.org/officeDocument/2006/relationships/notesSlide" Target="/ppt/notesSlides/notesSlide2.xml" Id="R182c942fa157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38816e8a7429f" /><Relationship Type="http://schemas.openxmlformats.org/officeDocument/2006/relationships/notesSlide" Target="/ppt/notesSlides/notesSlide3.xml" Id="Ra65aac20eb4b4f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583ea3000495b" /><Relationship Type="http://schemas.openxmlformats.org/officeDocument/2006/relationships/notesSlide" Target="/ppt/notesSlides/notesSlide4.xml" Id="R2942d5b4054d49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5b5bfcea045b2" /><Relationship Type="http://schemas.openxmlformats.org/officeDocument/2006/relationships/notesSlide" Target="/ppt/notesSlides/notesSlide5.xml" Id="Rc34dd5788eda4d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7330cc95b4fde" /><Relationship Type="http://schemas.openxmlformats.org/officeDocument/2006/relationships/image" Target="/ppt/media/image.jpeg" Id="Ra64751e0c47f4778" /><Relationship Type="http://schemas.openxmlformats.org/officeDocument/2006/relationships/image" Target="/ppt/media/image2.jpeg" Id="Rbdd1ba05442544a6" /><Relationship Type="http://schemas.openxmlformats.org/officeDocument/2006/relationships/notesSlide" Target="/ppt/notesSlides/notesSlide6.xml" Id="R3237456b8b83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59444f3434bb8" /><Relationship Type="http://schemas.openxmlformats.org/officeDocument/2006/relationships/notesSlide" Target="/ppt/notesSlides/notesSlide7.xml" Id="R90a71f72a1fb46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efaffc85a49b6" /><Relationship Type="http://schemas.openxmlformats.org/officeDocument/2006/relationships/notesSlide" Target="/ppt/notesSlides/notesSlide8.xml" Id="R2966f9f63a1941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e526a27f44b7a" /><Relationship Type="http://schemas.openxmlformats.org/officeDocument/2006/relationships/notesSlide" Target="/ppt/notesSlides/notesSlide9.xml" Id="Ree56b39434ff4e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d7cc1785944fd" /><Relationship Type="http://schemas.openxmlformats.org/officeDocument/2006/relationships/notesSlide" Target="/ppt/notesSlides/notesSlide10.xml" Id="Re59a5f35948a48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a12659e0343e1" /><Relationship Type="http://schemas.openxmlformats.org/officeDocument/2006/relationships/notesSlide" Target="/ppt/notesSlides/notesSlide11.xml" Id="R1c927c52e4954b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804b9e92645ce" /><Relationship Type="http://schemas.openxmlformats.org/officeDocument/2006/relationships/notesSlide" Target="/ppt/notesSlides/notesSlide12.xml" Id="Rb2177f44c76946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c49a50584980" /><Relationship Type="http://schemas.openxmlformats.org/officeDocument/2006/relationships/notesSlide" Target="/ppt/notesSlides/notesSlide13.xml" Id="Re073306182dd4b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62122a79f409d" /><Relationship Type="http://schemas.openxmlformats.org/officeDocument/2006/relationships/notesSlide" Target="/ppt/notesSlides/notesSlide14.xml" Id="R2903dd7128c74b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ca3b7ec8141fa" /><Relationship Type="http://schemas.openxmlformats.org/officeDocument/2006/relationships/notesSlide" Target="/ppt/notesSlides/notesSlide15.xml" Id="Rfb14957dedca47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c9e60023c46ae" /><Relationship Type="http://schemas.openxmlformats.org/officeDocument/2006/relationships/notesSlide" Target="/ppt/notesSlides/notesSlide16.xml" Id="R14a3e59f0d3c4b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4ea5237dd430f" /><Relationship Type="http://schemas.openxmlformats.org/officeDocument/2006/relationships/notesSlide" Target="/ppt/notesSlides/notesSlide17.xml" Id="R7cc72c194f7c47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4ee1542af41af" /><Relationship Type="http://schemas.openxmlformats.org/officeDocument/2006/relationships/notesSlide" Target="/ppt/notesSlides/notesSlide18.xml" Id="R529c05f792dd4a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B0FD5-11E9-4145-A154-D431A0A4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A98F"/>
                </a:solidFill>
              </a:defRPr>
            </a:pPr>
            <a:r>
              <a:rPr sz="1500" b="1">
                <a:solidFill>
                  <a:srgbClr val="8FA98F"/>
                </a:solidFill>
              </a:rPr>
              <a:t>UCM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5784D-8DA6-49A0-BA50-8FB26827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360-Degree Digital Business Audit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&amp; Growth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05717-64FC-48CC-9771-1E2B6CB4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DD6"/>
                </a:solidFill>
              </a:defRPr>
            </a:pPr>
            <a:r>
              <a:rPr sz="1800" b="0">
                <a:solidFill>
                  <a:srgbClr val="D7DDD6"/>
                </a:solidFill>
              </a:rPr>
              <a:t>Website, market, customer journey, operations, marketing, AI opportunities and implementation roadmap.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C53CF-DF3E-427D-A2F3-548C62CE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2AE42-58A1-42CD-BAF7-E7FA9FB8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95450"/>
            <a:ext cx="2609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BRUTALLY HONEST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COMMERCIALLY FOCUSED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ACTIONABLE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0CBD9-91AE-4233-8A73-74361542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D6"/>
                </a:solidFill>
              </a:defRPr>
            </a:pPr>
            <a:r>
              <a:rPr sz="1200" b="0">
                <a:solidFill>
                  <a:srgbClr val="D7DDD6"/>
                </a:solidFill>
              </a:rPr>
              <a:t>Prepared July 2026</a:t>
            </a:r>
          </a:p>
        </p:txBody>
      </p:sp>
    </p:spTree>
    <p:extLst>
      <p:ext uri="{BB962C8B-B14F-4D97-AF65-F5344CB8AC3E}">
        <p14:creationId xmlns:p14="http://schemas.microsoft.com/office/powerpoint/2010/main" val="8835347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4FCC2-298B-421B-AE59-B5CEBF3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EXECUTIVE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5318A-BF51-4F00-813D-A2E3426A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business is credible. The digital engine is underpowered.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8D378-C9AB-4E43-BE48-69C9390B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57D76-7DCE-4A75-A90B-724D565A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6DA6F-0774-4E5B-BCBB-2025432C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83F94-6137-4518-B74C-708192DF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UCM appears to have real service breadth, history and operational capability. But the website currently behaves like a polished brochure, not a lead-generation and contract-acquisition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C64B1-B25A-49FC-AEC1-6DED59D8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DE732-BBA7-4B79-B4DC-89A9679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701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 site looks professional, but does not prove enough fast enough.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4C398-E4E8-4264-A195-98B64CCE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AEE10-E32B-43BF-9C66-8E3C9A9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701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 technical SEO setup likely leaves high-intent local demand on the 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5238B-61B2-4B7E-8F2C-3393DBF8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5EF9B-7B41-46EF-AA00-B29CD7D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701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 offer is too broad: cleaning, maintenance and renovation need sharper packaging.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F5099-5B34-4FED-B735-D44C4D6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6D670-EDDD-49CF-97B9-821A711D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701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 upside is not cosmetic. It is more qualified leads, larger retainers and stronger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C0840-1A38-4206-9B46-E2DFD64A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26479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E4638-BA9B-420F-9C77-830E6C23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A98F"/>
                </a:solidFill>
              </a:defRPr>
            </a:pPr>
            <a:r>
              <a:rPr sz="1350" b="1">
                <a:solidFill>
                  <a:srgbClr val="8FA98F"/>
                </a:solidFill>
              </a:rPr>
              <a:t>Bottom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81A3C-F0E9-4BB9-AB31-11A0A4F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200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UCM does not need a nicer website.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It needs a revenue system.</a:t>
            </a:r>
          </a:p>
        </p:txBody>
      </p:sp>
    </p:spTree>
    <p:extLst>
      <p:ext uri="{BB962C8B-B14F-4D97-AF65-F5344CB8AC3E}">
        <p14:creationId xmlns:p14="http://schemas.microsoft.com/office/powerpoint/2010/main" val="1646059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BD536C-7687-48EF-9D28-F1A9945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CURRENT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63371-30F3-4615-90FB-1B4B5DD7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UCM has useful breadth - but breadth is not positioning.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37EB4-1ABC-4578-AF9F-26A2618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298D4-1ADD-4422-A441-59401DB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D9E82-E49A-4532-929A-0C446324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343BD-0BEC-42D9-98AE-BD917B16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46FCF-EAAB-4208-B62E-41CD06F4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FA98F"/>
                </a:solidFill>
              </a:defRPr>
            </a:pPr>
            <a:r>
              <a:rPr sz="3600" b="1">
                <a:solidFill>
                  <a:srgbClr val="8FA98F"/>
                </a:solidFill>
              </a:rPr>
              <a:t>1994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E090-3B6C-447C-A7E5-BF6D50FE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heritage claimed on UCM content and LinkedIn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D94F4-C5C9-4DED-96FC-04472F16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859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746DC-19A2-4D38-9B2E-59028A19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526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FA98F"/>
                </a:solidFill>
              </a:defRPr>
            </a:pPr>
            <a:r>
              <a:rPr sz="3600" b="1">
                <a:solidFill>
                  <a:srgbClr val="8FA98F"/>
                </a:solidFill>
              </a:rPr>
              <a:t>11-50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1AD29-D634-45E5-8B43-937BCFD8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LinkedIn company-size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E7B71-81A8-40F1-A46E-0EB62EC8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8236F-EF9E-4ACF-808A-F051872C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FA98F"/>
                </a:solidFill>
              </a:defRPr>
            </a:pPr>
            <a:r>
              <a:rPr sz="3600" b="1">
                <a:solidFill>
                  <a:srgbClr val="8FA98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A372E-551A-42C5-B929-CD7B0AD4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core revenue arenas: cleaning, maintenance, renovation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7745F-E465-471B-8F2E-530F5C65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628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057B2-6F7B-4F56-A240-AA781DE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Strategic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81B5E-D090-47CD-B67F-0E7FC1A6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209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Breadth is commercially useful only when packaged into buyer-specific offers. Otherwise it reads as generic capability.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2E2EB-815C-4E83-9DC4-2765F57A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481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31"/>
                </a:solidFill>
              </a:defRPr>
            </a:pPr>
            <a:r>
              <a:rPr sz="1500" b="1">
                <a:solidFill>
                  <a:srgbClr val="173D31"/>
                </a:solidFill>
              </a:rPr>
              <a:t>Best angle: cleaning plus responsive maintenance for London property and workplace buyers.</a:t>
            </a:r>
          </a:p>
        </p:txBody>
      </p:sp>
    </p:spTree>
    <p:extLst>
      <p:ext uri="{BB962C8B-B14F-4D97-AF65-F5344CB8AC3E}">
        <p14:creationId xmlns:p14="http://schemas.microsoft.com/office/powerpoint/2010/main" val="1252230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7DE60-C647-42F6-8C4D-DFF2FD1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MARKET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27123-07BE-49EB-8F35-6BCE5C1A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Demand exists. Attention is expensive. Trust decides.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3E69D-F232-4726-9DC7-A024E3C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7C236-E1A5-4A19-A420-C97CF289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B6A27-9ED0-440F-9242-3CC0250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750E7-EE56-44A4-9027-E21E6158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E9367-B4F9-4DF8-A67A-F7CBEFB3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1.51m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CC51D-334E-4710-ADF4-A72EEC5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people employed in UK cleaning, hygiene and waste sector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85EA2-BB2E-4FB9-9777-488F7C96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35639-C5EA-497F-98A6-AF5354AF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78,915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B975A-988F-4445-AA46-F6E2610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businesses operating in the sector in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B0BDA-BDDF-4F93-9664-CD50254A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2405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43227-FE72-4ABA-8F30-EA9C4587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$81bn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1B114-AEAA-44A8-8FAB-C681216D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estimated UK facility management market size in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DFD5D-463B-43A3-BD6F-6BAD287D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What this means for UCM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A1ECB-9A2B-4DBC-A2B3-006ABDD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05A71-69BD-44EA-A21B-5E699DF7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910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Cleaning is commoditised at the bottom; procurement trust matters at the 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FEB3F-B745-48B6-8C37-B5622DD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7A658-55AF-469F-B567-15BEAA7E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910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best growth lane is recurring B2B contracts, not one-off jobs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821DD-F33B-449D-9816-F983A57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0C66A-3BA6-45FA-8D09-3C8FBEE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910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Sustainability, compliance, reporting and proof are now sales assets.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1A6AD-A1F8-4B64-8E8B-10453A7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Sources: British Cleaning Council, IBISWorld, Mordor Intelligence.</a:t>
            </a:r>
          </a:p>
        </p:txBody>
      </p:sp>
    </p:spTree>
    <p:extLst>
      <p:ext uri="{BB962C8B-B14F-4D97-AF65-F5344CB8AC3E}">
        <p14:creationId xmlns:p14="http://schemas.microsoft.com/office/powerpoint/2010/main" val="8316863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8FBA4-2B72-4FE3-B494-BFFD6120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WEBSITE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39ACF-61FA-4FF9-AE0F-5C419442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front end looks decent. The crawlable foundation is weak.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93DD4-97AB-4E93-B66F-B4BD4596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74FA0-5BBC-44F0-88D2-6E809A7C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47793-8875-4D70-8C24-F2B9AE80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41328-C71D-42BC-B0E0-B920D32C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F20B9-8F11-41D7-ADE7-CEA7FF97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Observed technical issues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6ABD9-42EB-4B9A-82BC-65380FDE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34943-65DF-4ED8-95C8-8A7BEBC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React/Vite app shell returned across tested URLs.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D2D74-E927-4CB5-9107-9FD22246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221C1-B74B-41E1-9EDA-9F824DA9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 sitemap found at /sitemap.xml.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8F6D9-EE46-4E46-B988-0A24727E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01C5D-9F95-4565-9DE0-A93A9359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 obvious LocalBusiness, Organization or FAQ schema in raw HTML.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5F974-428C-42C5-B3CD-617335F6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18EF9-70C2-46DB-9E27-28437E9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Repeated generic page title across key service pages.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CF7C6-BFAF-4247-B96A-DD2A9F0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2D09A-46E2-4DE9-A75F-80D153B0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49912-87C5-4208-933E-48E4FBBF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For a London service business, SEO is not decoration. It is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If Google cannot easily understand every service, sector and location page, UCM is asking paid ads and referrals to do too much work.</a:t>
            </a:r>
          </a:p>
        </p:txBody>
      </p:sp>
    </p:spTree>
    <p:extLst>
      <p:ext uri="{BB962C8B-B14F-4D97-AF65-F5344CB8AC3E}">
        <p14:creationId xmlns:p14="http://schemas.microsoft.com/office/powerpoint/2010/main" val="8576608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E08201-315D-4D19-AAE0-A1061D4E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CUSTOMER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7507C-2C24-4AED-A2F0-985F2B95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first impression is polished - but not yet persuasive.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011A5-F05B-4685-BDFC-B0C9F9A0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C781E-8950-4DA6-93FA-D6FC3347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EE5B3-FA1D-4B26-A22D-3569200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751e0c47f4778"/>
          <a:srcRect xmlns:a="http://schemas.openxmlformats.org/drawingml/2006/main" l="92" t="0" r="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24050"/>
            <a:ext cx="5810250" cy="32766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1ba05442544a6"/>
          <a:srcRect xmlns:a="http://schemas.openxmlformats.org/drawingml/2006/main" l="0" t="5862" r="0" b="5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924050"/>
            <a:ext cx="1714500" cy="3276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74381-E248-4961-9D97-78D914A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190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1292B-830F-4E6A-84FE-18726FA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Buyer friction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1F551-EB04-4D44-B675-4B11331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51EF2-4A29-4A2C-B151-E64E7EB3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43200"/>
            <a:ext cx="139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 immediate proof stack.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4CA26-B3D9-47DC-9F6F-6442244B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7F0A5-4602-452B-BCDB-7F654CAD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52775"/>
            <a:ext cx="139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 sector-specific promise.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061B3-8FD2-4608-8994-C37BAE50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1A802-A433-4746-87A4-FA9381B1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62350"/>
            <a:ext cx="139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 response-time claim.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EFD33-F16F-4FCE-892A-85D885AA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6E6E2-4EB9-4992-91DE-AFC14E6C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71925"/>
            <a:ext cx="139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 visible review source.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66B19-536C-4E3A-A30C-B632059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48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6E2F6-F8AD-4BC8-BCC6-5B95D610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139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Mobile hero feels cramped.</a:t>
            </a:r>
          </a:p>
        </p:txBody>
      </p:sp>
    </p:spTree>
    <p:extLst>
      <p:ext uri="{BB962C8B-B14F-4D97-AF65-F5344CB8AC3E}">
        <p14:creationId xmlns:p14="http://schemas.microsoft.com/office/powerpoint/2010/main" val="18310758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9DE7F-B068-471F-AFFE-500AD345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COMPETITOR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CF406-6FFA-454E-B7E6-E50957B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Competitors are clearer about who they serve and why to trust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3EEEE-8A58-4F07-A514-44204E0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7FF76-083D-4962-8286-A1B64A03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B4DC2-6123-48B7-882E-721D7F51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04958-773C-4EFE-B4C4-91082FFD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076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C8163-E8D9-435A-AD66-96883F90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Cleanology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EFD82-3C18-4B68-A2B1-5E18469F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Office/commercial cleaning, city pages, sustainability and sector depth.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43EAB-2281-41E1-8424-B18892F3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76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3BCE7-E93C-4CB3-9C37-A0AB6FB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Regular Cleaning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73B1B-6DC4-4D02-9258-6C96FBF9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Commercial/property-management credibility, 45-year message, policies, certifications.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E6898-8DB7-4A5B-9226-D0547C99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76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171EF-7572-409A-BC12-1BC0ED80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Perfect Cleaning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A3FF2-97AA-42AA-93EE-5BFC0AE9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719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Direct response, quote flow, domestic/commercial coverage and testimonials.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3D99E-B7FA-4286-A831-40F2014E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76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4E271-549E-4A83-B3DF-3A19DE64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UCM opportunity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CE992-1EFC-4325-A983-08D9176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482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Own the combined lane: cleaning plus maintenance for London property/workplace buyers.</a:t>
            </a:r>
          </a:p>
        </p:txBody>
      </p:sp>
    </p:spTree>
    <p:extLst>
      <p:ext uri="{BB962C8B-B14F-4D97-AF65-F5344CB8AC3E}">
        <p14:creationId xmlns:p14="http://schemas.microsoft.com/office/powerpoint/2010/main" val="6726535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ADBF7-CC92-4AF5-AAA9-057273DA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REVENUE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4F9DB-4CC1-4B4D-AF0B-054719A5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biggest commercial unlock is recurring B2B revenue.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59670-A686-4EFA-9A4B-7FF17E3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DD566-4671-4B55-A8BB-1D5C9D3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DC30A-8BC8-41CF-8E53-874A1AAE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08812-C40B-478A-90A7-4ECD747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One-off work is useful. Retainers build enterprise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E1A1-6AD8-4110-AC35-7A55067D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1FAD9-958F-49FB-8404-66E32B22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31"/>
                </a:solidFill>
              </a:defRPr>
            </a:pPr>
            <a:r>
              <a:rPr sz="1500" b="1">
                <a:solidFill>
                  <a:srgbClr val="173D31"/>
                </a:solidFill>
              </a:rPr>
              <a:t>Commercial cleaning retainer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4A399-5053-4B45-9A04-7C1AA0BE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Daily/weekly office, washrooms, consumables, periodic deep clean.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D1623-2B44-4723-AF50-0180893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428A1-93E9-43CD-9FA6-AC4A08C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31"/>
                </a:solidFill>
              </a:defRPr>
            </a:pPr>
            <a:r>
              <a:rPr sz="1500" b="1">
                <a:solidFill>
                  <a:srgbClr val="173D31"/>
                </a:solidFill>
              </a:rPr>
              <a:t>Property manager care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7BC5A-27A4-41FC-A8B5-BFDE1E4C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38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Communal cleaning, minor maintenance, inspections, monthly reporting.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A5FBB-CC09-4266-A128-5B17B8C4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F8DC5-A655-4B58-9D43-2EB7E250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31"/>
                </a:solidFill>
              </a:defRPr>
            </a:pPr>
            <a:r>
              <a:rPr sz="1500" b="1">
                <a:solidFill>
                  <a:srgbClr val="173D31"/>
                </a:solidFill>
              </a:rPr>
              <a:t>End-of-tenancy fast turnaround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00A62-8C6C-45B5-8FEB-FD84FB8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Clean, waste removal, minor repairs, deposit-ready handover.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99F48-C87E-44EB-974A-67C72805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3524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D82D0-F04B-449F-8AD7-BF4B7D94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101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31"/>
                </a:solidFill>
              </a:defRPr>
            </a:pPr>
            <a:r>
              <a:rPr sz="1500" b="1">
                <a:solidFill>
                  <a:srgbClr val="173D31"/>
                </a:solidFill>
              </a:rPr>
              <a:t>Data centre and IT cleaning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E789F-496D-4D04-B8AF-F8F57733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911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Anti-static process, trained staff, method statements, risk controls.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A5583-6A76-41C0-9D79-F0771ED0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3524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BCF21-6970-4A11-B73B-EC0F2DCA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101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31"/>
                </a:solidFill>
              </a:defRPr>
            </a:pPr>
            <a:r>
              <a:rPr sz="1500" b="1">
                <a:solidFill>
                  <a:srgbClr val="173D31"/>
                </a:solidFill>
              </a:rPr>
              <a:t>Responsive maintenance 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460FD-F55F-4599-B956-2E98910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911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Repairs, carpentry, decoration, plumbing triage and documented response.</a:t>
            </a:r>
          </a:p>
        </p:txBody>
      </p:sp>
    </p:spTree>
    <p:extLst>
      <p:ext uri="{BB962C8B-B14F-4D97-AF65-F5344CB8AC3E}">
        <p14:creationId xmlns:p14="http://schemas.microsoft.com/office/powerpoint/2010/main" val="15272840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AA43B-C127-4A9E-83C4-36275407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GROWTH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C40D5-6DA8-4462-BDD6-1933D0A4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Four pillars should carry the next phase.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E9482-59BD-4371-8B68-5D1B70F3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F2A39-0D06-40D8-9715-0EF520F5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E9742-2C5C-4AE6-AD77-19F0D6D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85C16-6ECB-436C-A313-6ADE12DF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8AC79-51A2-45FA-BBB7-FFD649DF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FA98F"/>
                </a:solidFill>
              </a:defRPr>
            </a:pPr>
            <a:r>
              <a:rPr sz="3300" b="1">
                <a:solidFill>
                  <a:srgbClr val="8FA98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37965-CD52-49E9-A14E-99C49EFC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Fix findability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5748D-0957-4BB8-9A1C-10DCD7EC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790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Crawlable service, sector and location pages with schema and tracking.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C01F9-FC9D-4020-87D8-96180699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193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A1FE8-F2BE-4214-94A5-05D0FF23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D31"/>
                </a:solidFill>
              </a:defRPr>
            </a:pPr>
            <a:r>
              <a:rPr sz="3300" b="1">
                <a:solidFill>
                  <a:srgbClr val="173D31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01F10-8066-4D39-9268-8604429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Prove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E653E-B924-4618-B5F0-7A9B0904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1790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Reviews, case studies, accreditations, policies, photos and guarantees.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85798-6AF6-4A31-BD56-E44335E9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193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E2FBA-5F2C-4AC8-9F7D-32CE4351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D31"/>
                </a:solidFill>
              </a:defRPr>
            </a:pPr>
            <a:r>
              <a:rPr sz="3300" b="1">
                <a:solidFill>
                  <a:srgbClr val="173D3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C932A-D4F0-45BE-8B75-9FAB8F0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Package offers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2D70D-7656-4E3C-A81A-839CD8A3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1790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Retainers, SLAs and buyer-specific bundles instead of a loose menu.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E6CB8-903A-4576-830E-4FEF1B0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19300"/>
            <a:ext cx="232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41D86-13C4-4FCF-870B-5B7BDAE3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D31"/>
                </a:solidFill>
              </a:defRPr>
            </a:pPr>
            <a:r>
              <a:rPr sz="3300" b="1">
                <a:solidFill>
                  <a:srgbClr val="173D31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11A45-5883-41C8-94D8-DD808D92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Systemise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2A810-AAD6-4F1A-82F2-A770C89A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95700"/>
            <a:ext cx="1790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CRM, quote workflow, follow-up automation and job reporting.</a:t>
            </a:r>
          </a:p>
        </p:txBody>
      </p:sp>
    </p:spTree>
    <p:extLst>
      <p:ext uri="{BB962C8B-B14F-4D97-AF65-F5344CB8AC3E}">
        <p14:creationId xmlns:p14="http://schemas.microsoft.com/office/powerpoint/2010/main" val="18929856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95E543-13FB-423F-A5EB-F45CAE4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SEO &amp;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27278-01D8-47CB-9D96-FC7AC6FD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Build pages around how buyers actually search.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68773-80A2-49F4-A110-FBEA3528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ECA06-7708-4F6C-9085-AC1BCC85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557E1-710B-4873-BDAA-8FC8ABC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340A1-A956-48A6-9559-A85F94E7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Core page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BDE5E-133B-43DF-A22E-69E179B5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DAECF-D920-450C-AB88-C19249BE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Office Cleaning London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5F660-B191-45E0-AB44-518EA9CD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200FE-BEAE-4A93-BB7D-B3788DFD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Commercial Cleaning London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2D48A-3572-4877-84B7-01E697FD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6A9EE-AFC1-4AC8-BF47-A3CC1BD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Property Management Cleaning London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63B9C-AA0E-4437-BFD0-655D740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C7300-E1AE-49A5-9AA9-9AC92CF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Centre Cleaning London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6787F-6136-4A9F-B622-887BA58E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91735-CB33-4941-A7B4-D2E03CA1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End of Tenancy Cleaning London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474F7-1405-42FE-AB59-C0013D0F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A8053-2CE3-4D4B-ADA4-9F344F55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Responsive Property Maintenance London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55300-0B81-4E57-8C7D-E0CC5C79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86980-267D-4F0C-92D3-F789A5F3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Every money page needs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D5EF2-4B13-41C3-82C3-3EC3C5C6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2D235-4224-426D-8AF7-AA2D2CDE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Unique title and meta description.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89BBB-3629-4824-AD13-540B1CA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748F3-7688-47B5-8E33-BE7D914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385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Sector-specific proof and FAQs.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28CAE-49B9-41B6-AA9E-751B3D4F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0158A-CF75-4423-85FB-E5848BD5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957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LocalBusiness or Service schema.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41248-867F-4FB3-9357-10339FDD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9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710CD-ACC9-45CC-B399-1F1A8ED5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Quote CTA above and below fold.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7B65B-3B8B-4BB5-B71C-39BDD2D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76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E509B8-FD59-40F7-93D4-D4D5867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01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Photos, reviews, accreditations and process.</a:t>
            </a:r>
          </a:p>
        </p:txBody>
      </p:sp>
    </p:spTree>
    <p:extLst>
      <p:ext uri="{BB962C8B-B14F-4D97-AF65-F5344CB8AC3E}">
        <p14:creationId xmlns:p14="http://schemas.microsoft.com/office/powerpoint/2010/main" val="7898130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4A8E8-679E-419E-9E36-A85D3C6B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TRUST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6C58F-647D-4FE3-B6D1-432E02C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site must answer procurement objections before sales speaks.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BFA3A-9210-4BFC-8EDB-F81756E0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B1C48-DEA6-45F5-9758-DFCD7C9E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D794A-2BF8-4653-8B8C-B8D76099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849CD-A6C8-4E5E-9E5E-125B8327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31"/>
                </a:solidFill>
              </a:defRPr>
            </a:pPr>
            <a:r>
              <a:rPr sz="2250" b="1">
                <a:solidFill>
                  <a:srgbClr val="173D31"/>
                </a:solidFill>
              </a:rPr>
              <a:t>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3DCDD-B381-4FED-A959-795C9692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335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A1F5D-E346-44C0-82F7-C0F1738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Client logos, case studies, before/after photos, named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CFE32-7D30-4842-94C8-1B332077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31"/>
                </a:solidFill>
              </a:defRPr>
            </a:pPr>
            <a:r>
              <a:rPr sz="2250" b="1">
                <a:solidFill>
                  <a:srgbClr val="173D31"/>
                </a:solidFill>
              </a:rPr>
              <a:t>Compliance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D494C-FAD2-49C5-BC06-1B87F872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384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367CB-DF06-4346-8817-6EA951B3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5752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Insurance, RAMS, COSHH, ISO/SSIP evidence where applicable.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82510-46F1-43EE-91EE-17691E7B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31"/>
                </a:solidFill>
              </a:defRPr>
            </a:pPr>
            <a:r>
              <a:rPr sz="2250" b="1">
                <a:solidFill>
                  <a:srgbClr val="173D31"/>
                </a:solidFill>
              </a:rPr>
              <a:t>People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A4F85-72A6-4FD9-A70E-B86ACEA0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433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3546F-47E1-4C54-9F10-532C148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Cleaner vetting, training, supervision, escalation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A721E-AD8E-4094-AA61-5448E84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D31"/>
                </a:solidFill>
              </a:defRPr>
            </a:pPr>
            <a:r>
              <a:rPr sz="2250" b="1">
                <a:solidFill>
                  <a:srgbClr val="173D31"/>
                </a:solidFill>
              </a:rPr>
              <a:t>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2CCEA-AF27-4804-906C-2CBEA186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482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00380-0D42-4902-8449-DC83D423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6727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Monthly service reports, photo proof, issue logs, SLA performance.</a:t>
            </a:r>
          </a:p>
        </p:txBody>
      </p:sp>
    </p:spTree>
    <p:extLst>
      <p:ext uri="{BB962C8B-B14F-4D97-AF65-F5344CB8AC3E}">
        <p14:creationId xmlns:p14="http://schemas.microsoft.com/office/powerpoint/2010/main" val="14018895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27C2A-0077-4B3E-A370-FB7A43F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A85EB-5D8B-4F47-A1F4-0700FF83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Marketing will only scale if quoting and delivery are systemised.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AF00C-7CC7-4CF3-877B-1386DEF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89892-5610-4832-BAC3-AAB3BE1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91AB6-DE55-43F9-B7AD-2AB28026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6DB57-6914-4DFF-8B28-F3A98220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73052-B6C8-46E1-94E0-5A535B49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Lead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73F5D-A14A-41FB-A40C-E2CDBCDD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870C4-C250-417D-8113-F84D20CF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Service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846E2-28F4-45F9-B063-30032D23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DE6E9-1BF1-4BA8-8EAB-ECA0C8F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35A58-04B5-4E2E-9F79-052472B4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02905-2EAC-43B3-9CB7-638FEB9B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Urgency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7E61F-4D71-42F4-BD15-01FCFEA0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1BE50-C1D2-42A4-B3C6-848DA3C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Property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998EF-E7A0-430F-8A67-7134211E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56DB5-C3CC-4CB9-88F1-7D2EEC9A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Budget 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C2181-8865-420C-ADD3-71408DF6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24EBC-5C80-4190-9581-892222E3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Quote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15ED7-69B9-4EC7-B3DE-D48D75E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31785-FFD7-49CE-B06D-D7DCD81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Scope template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B1B37-4929-4B80-A245-C706CB2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48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30223-105C-4D01-BD51-2E3DDD59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Site visit trigger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8C87B-69B3-44AF-9DA9-8102307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A53B6-C646-4E41-BD51-F102F822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814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Margin guardrails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00DA7F-B40C-4EAF-924E-9E22F09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48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E03DF-B8FE-447F-A2A0-32C93FC1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814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Photos/docs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1D6FA-8B0D-402C-9204-BB709837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48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58C7AA-0EFE-4A66-9B40-0E5C43A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Proposal follow-up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A39F39-0730-419F-BCDE-37A71A87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BDDB6-0FD8-41C4-9B49-79E6C3BE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Delivery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16727-0AFF-49DD-BA69-DB0DCEB4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5EE81-B202-4AC6-BD76-2BA3EF03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Checklists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254735-F2CA-451F-B34A-A5B9C06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AD16F4-462E-442D-B168-3A09351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Photo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914C76-C414-4098-8A67-5CE8E882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48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C56CE5-B153-4467-89D8-50A3E734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Issue log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D1015F-DFA7-44D1-8588-D87F7C6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48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299446-AA40-48CB-9EE1-FC381634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Monthly 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970F77-CF72-44B8-9E7F-90C63D98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48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015257-D21E-4A1B-86AA-BB95C02F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Renewal prompts</a:t>
            </a:r>
          </a:p>
        </p:txBody>
      </p:sp>
    </p:spTree>
    <p:extLst>
      <p:ext uri="{BB962C8B-B14F-4D97-AF65-F5344CB8AC3E}">
        <p14:creationId xmlns:p14="http://schemas.microsoft.com/office/powerpoint/2010/main" val="459829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F8ECD-37D5-4F00-B188-2ECABD52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AI OPPORTUNITIES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92A27-DEBB-46CC-ABAB-92346E1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Use AI to respond faster, quote better and document quality.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C3D00-C591-4702-87B1-DA1E611F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11FFF-B6CE-460A-B1A3-5CBAB7D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C2DF7-0676-4992-A29B-41072655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7903D-8038-49A3-9FCF-CA1944AC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5E253-9434-4BA9-8AAF-CE9A81D9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D31"/>
                </a:solidFill>
              </a:defRPr>
            </a:pPr>
            <a:r>
              <a:rPr sz="1575" b="1">
                <a:solidFill>
                  <a:srgbClr val="173D31"/>
                </a:solidFill>
              </a:rPr>
              <a:t>Lead triage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B5115-8DEA-4DD8-8512-4706F295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Classify enquiry, urgency, location, contract potential and next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9785B-8557-4579-83CB-2DCB2134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92496-3AFC-4798-9184-2FC8AA39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D31"/>
                </a:solidFill>
              </a:defRPr>
            </a:pPr>
            <a:r>
              <a:rPr sz="1575" b="1">
                <a:solidFill>
                  <a:srgbClr val="173D31"/>
                </a:solidFill>
              </a:rPr>
              <a:t>Quote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F62FB-57D7-4852-AB2E-F57C5C2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Turn form inputs/photos into a draft scope for human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3DF2C-0578-4941-8CC8-7B69258D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CC3A5-B708-4D99-9CA2-7121C0DF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57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D31"/>
                </a:solidFill>
              </a:defRPr>
            </a:pPr>
            <a:r>
              <a:rPr sz="1575" b="1">
                <a:solidFill>
                  <a:srgbClr val="173D31"/>
                </a:solidFill>
              </a:rPr>
              <a:t>Call summaries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BDAA8-EB7A-4C44-BEB9-718CD0E4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Transcribe calls and push requirements into CRM.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C6B54-33E6-4E94-9692-6518F5C3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FA82A-FE8D-4BFD-BE0F-995E52AC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D31"/>
                </a:solidFill>
              </a:defRPr>
            </a:pPr>
            <a:r>
              <a:rPr sz="1575" b="1">
                <a:solidFill>
                  <a:srgbClr val="173D31"/>
                </a:solidFill>
              </a:rPr>
              <a:t>Job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45088-9DC5-43D0-975F-32DE471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Cleaner photo uploads, checklist summaries and exception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CAFF4-1A2A-4D56-BB17-2C91DE51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DECFB-2432-4654-A2D4-67ABDFC0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D31"/>
                </a:solidFill>
              </a:defRPr>
            </a:pPr>
            <a:r>
              <a:rPr sz="1575" b="1">
                <a:solidFill>
                  <a:srgbClr val="173D31"/>
                </a:solidFill>
              </a:rPr>
              <a:t>Proposal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B30D6-D59C-4F2F-A910-C30BD545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Draft follow-ups, tender answers and sector-specific proposals.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47FC7-993C-428B-BD39-1150F771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8DBD5-E1C2-4A7B-B4F1-33CB28C6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D31"/>
                </a:solidFill>
              </a:defRPr>
            </a:pPr>
            <a:r>
              <a:rPr sz="1575" b="1">
                <a:solidFill>
                  <a:srgbClr val="173D31"/>
                </a:solidFill>
              </a:rPr>
              <a:t>Route 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06387-B232-441C-A4FA-00823DAD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529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Cluster jobs by postcode, crew skill, equipment and urgency.</a:t>
            </a:r>
          </a:p>
        </p:txBody>
      </p:sp>
    </p:spTree>
    <p:extLst>
      <p:ext uri="{BB962C8B-B14F-4D97-AF65-F5344CB8AC3E}">
        <p14:creationId xmlns:p14="http://schemas.microsoft.com/office/powerpoint/2010/main" val="5642472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A6A48-D53D-4B9D-85C9-D71C1026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RISK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67DD3-48BE-460A-B2F5-970FA47A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largest risks are fixable, but ignoring them costs revenue.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3DA7C-C255-4922-AA6D-9DE82EEA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91092-2092-4640-8216-F4129439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89FEB-82DF-4D53-857A-46AE4EFE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72AA1-0FD5-4FCC-B9E1-D81064E3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5B129-40F3-4F09-9134-EF64112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335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SEO invisibility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A3549-11F7-42EB-B2AF-C2B532F9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33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4535"/>
                </a:solidFill>
              </a:defRPr>
            </a:pPr>
            <a:r>
              <a:rPr sz="1425" b="1">
                <a:solidFill>
                  <a:srgbClr val="B84535"/>
                </a:solidFill>
              </a:rPr>
              <a:t>High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BAAFB-1639-4542-93D1-BAE3FE6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33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Crawlable pages, sitemap, schema, internal linking.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4A047-8066-4A8A-8919-672ABF0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72F1D-C295-4F2F-92CA-517CC640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Generic positioning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A48D9-5593-4BDF-B165-78D964A9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57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4535"/>
                </a:solidFill>
              </a:defRPr>
            </a:pPr>
            <a:r>
              <a:rPr sz="1425" b="1">
                <a:solidFill>
                  <a:srgbClr val="B84535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D345F-126A-45CC-8680-B7E0126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574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Sector offers and clear buyer promises.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6A0A1-DDCA-4D11-BA91-932539C1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F5D5C-B569-40D8-B448-173DC28F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Weak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E92BD-CB64-4074-81E1-724837E2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4535"/>
                </a:solidFill>
              </a:defRPr>
            </a:pPr>
            <a:r>
              <a:rPr sz="1425" b="1">
                <a:solidFill>
                  <a:srgbClr val="B84535"/>
                </a:solidFill>
              </a:rPr>
              <a:t>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DFF0E-A0B0-40DA-AC66-750939B0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Reviews, case studies, policies, accreditations.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0A68C-C519-4B41-8E39-0B3E0BCD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5E5F9-6039-462B-9735-8C1A1974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Lead leakage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92945-BCA5-48A4-AB64-35A7E983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05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Medium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9BC00-9AE8-4B61-A63B-13FC2F9D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052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Quote forms, call tracking, CRM follow-up.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B48B6-2B2D-4B96-B2BE-EB7380C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D87AF-061D-4999-9972-0077FB79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Operational strain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D255A-220E-45C3-90A9-554F54B3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29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Medium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DCE4E-3521-4263-A661-633FC341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291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SLA design, capacity planning, job reporting.</a:t>
            </a:r>
          </a:p>
        </p:txBody>
      </p:sp>
    </p:spTree>
    <p:extLst>
      <p:ext uri="{BB962C8B-B14F-4D97-AF65-F5344CB8AC3E}">
        <p14:creationId xmlns:p14="http://schemas.microsoft.com/office/powerpoint/2010/main" val="8725803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AA5C33-4FA8-411F-8275-78A6164E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56894-1954-41F7-8982-CD37C258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Do these first. Everything else is secondary.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1BB9E-E63F-42FF-8AF6-B370D85A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063B1-E830-4C2E-A889-4EEBB2F1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61B8B-F6A1-44AD-AF85-60AB976C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C5C79-CF52-4B30-993F-6E02280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A98F"/>
                </a:solidFill>
              </a:defRPr>
            </a:pPr>
            <a:r>
              <a:rPr sz="2625" b="1">
                <a:solidFill>
                  <a:srgbClr val="8FA98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6BD38-1A87-4619-AEAA-AD0EF40D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Fix technical SEO: sitemap, schema, unique metadata and indexable service content.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06F6D-BEEF-42CD-BBC5-D6923FE4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E4EB5-D6DB-4D9E-BB10-6684861C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A98F"/>
                </a:solidFill>
              </a:defRPr>
            </a:pPr>
            <a:r>
              <a:rPr sz="2625" b="1">
                <a:solidFill>
                  <a:srgbClr val="8FA98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50702-CD89-4D4D-B588-869770B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Rebuild commercial, office, property-manager, data-centre, end-of-tenancy and maintenance pages.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79DD4-9DB1-4841-8123-A5D39F48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00608-D334-4FE8-ADF7-26513457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A98F"/>
                </a:solidFill>
              </a:defRPr>
            </a:pPr>
            <a:r>
              <a:rPr sz="2625" b="1">
                <a:solidFill>
                  <a:srgbClr val="8FA98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92C92-4FAE-48BE-8153-EC5BB262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Add proof blocks: reviews, case studies, accreditations, policies, images and guarantees.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23658-624B-4B88-B7F1-52956F4C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632A0-6DF8-4A57-B355-AA631DC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A98F"/>
                </a:solidFill>
              </a:defRPr>
            </a:pPr>
            <a:r>
              <a:rPr sz="2625" b="1">
                <a:solidFill>
                  <a:srgbClr val="8FA98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7DE68-1FE1-4B8D-B93D-BD85E611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Set up analytics, call tracking, form events, CRM stages and lead-source attribution.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90953-17E5-45A6-A7BA-5CB2F460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40787-4B36-42F0-8A09-256DD19E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A98F"/>
                </a:solidFill>
              </a:defRPr>
            </a:pPr>
            <a:r>
              <a:rPr sz="2625" b="1">
                <a:solidFill>
                  <a:srgbClr val="8FA98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2426B-3805-49D7-984A-B0A23AA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Productise retainers and SLAs so UCM sells recurring outcomes, not loose tasks.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5CC03-82D4-42E0-B1CE-110E37A1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88206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A6E7A8-92F2-4265-B650-0D47F273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B14E9-CCF3-433D-A15B-4475880C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First 90 days: fix the machine, then put fuel in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A2656-1825-4328-857A-84EDFBDB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84522-FC72-46EA-B744-C2FCD2FB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6EAE8-BA35-4E4C-A310-1A6EED93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22ACB-F12D-43D4-B541-64BA75F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C8DF7-A9AF-4CED-96D0-33AB28D6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FA98F"/>
                </a:solidFill>
              </a:defRPr>
            </a:pPr>
            <a:r>
              <a:rPr sz="1950" b="1">
                <a:solidFill>
                  <a:srgbClr val="8FA98F"/>
                </a:solidFill>
              </a:rPr>
              <a:t>Days 1-30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45202-AA50-465A-9FA1-E45A44CA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Technical SEO, analytics, Search Console, GBP, mobile hero, contact form, tracking.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47B8B-2D8F-4092-B02C-13725182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65670-DDC3-4963-8E7E-A5B16A1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D31"/>
                </a:solidFill>
              </a:defRPr>
            </a:pPr>
            <a:r>
              <a:rPr sz="1950" b="1">
                <a:solidFill>
                  <a:srgbClr val="173D31"/>
                </a:solidFill>
              </a:rPr>
              <a:t>Days 31-60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BBD1C-141A-4562-862C-768947FC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Six money pages, FAQs, proof blocks, reviews, case studies and sales PDFs.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8B6B9-777D-4B6C-B1E3-C1270F30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BCC7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6A5B-9FFF-4AF5-8A2D-3E6BF5F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D31"/>
                </a:solidFill>
              </a:defRPr>
            </a:pPr>
            <a:r>
              <a:rPr sz="1950" b="1">
                <a:solidFill>
                  <a:srgbClr val="173D31"/>
                </a:solidFill>
              </a:rPr>
              <a:t>Days 61-90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D36B0-D96B-4258-BA15-800B62E5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Paid search, LinkedIn targeting, CRM pipeline, proposals and automated follow-up.</a:t>
            </a:r>
          </a:p>
        </p:txBody>
      </p:sp>
    </p:spTree>
    <p:extLst>
      <p:ext uri="{BB962C8B-B14F-4D97-AF65-F5344CB8AC3E}">
        <p14:creationId xmlns:p14="http://schemas.microsoft.com/office/powerpoint/2010/main" val="18602614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8554FF-8BD2-489F-A672-A6765562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A98F"/>
                </a:solidFill>
              </a:defRPr>
            </a:pPr>
            <a:r>
              <a:rPr sz="975" b="1">
                <a:solidFill>
                  <a:srgbClr val="8FA98F"/>
                </a:solidFill>
              </a:rPr>
              <a:t>SCALE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89D15-694F-4D6D-B978-53B9AAF0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Months 4-12: move from lead capture to market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6FABB-F6AF-4A24-A942-9B6EA21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7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4D8E4-0CA8-4912-9EDB-8487A79A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UCM SERVICES  |  DIGITAL BUSINESS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5D9A3-884F-422C-A048-0582A2C0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EBC31-3491-4516-BB1E-7CEC02EF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F4545-95DB-454F-973C-E61982EE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967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Publish sector and location pages for property managers, offices, landlords, education and hospitality.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87B9D-47E6-40B1-A276-916FFBDE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DB59B-C104-46DA-98B1-BEC240D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967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Deploy AI-assisted quote workflow, call summaries and job reporting.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5945A-7CD3-4B00-9E2C-9C100735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9DC36-013B-4FBD-ACA2-A5B8CD2E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967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Launch recurring-contract upsell campaigns across cleaning and maintenance clients.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A656B-A00D-4275-ABC6-1F68E36D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3CCBA-BFC1-4491-9205-75F617A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967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Build partner channels with estate agents, landlords, block managers and fit-out firms.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3D3AF-F074-4F42-B883-17510E2B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8DA1E-70A2-4757-9AA6-DFA1224E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967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Create a tender library and quarterly sustainability/quality report.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55D12-3C66-46A2-9CDE-E8206CC0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46D9C-7A67-44E1-8F20-55689103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Target operating model: fewer cold leads, more retained clients, clearer proof, faster response.</a:t>
            </a:r>
          </a:p>
        </p:txBody>
      </p:sp>
    </p:spTree>
    <p:extLst>
      <p:ext uri="{BB962C8B-B14F-4D97-AF65-F5344CB8AC3E}">
        <p14:creationId xmlns:p14="http://schemas.microsoft.com/office/powerpoint/2010/main" val="8987059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919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F77E8-CD06-4ED1-A0BE-41BDC0D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A98F"/>
                </a:solidFill>
              </a:defRPr>
            </a:pPr>
            <a:r>
              <a:rPr sz="1350" b="1">
                <a:solidFill>
                  <a:srgbClr val="8FA98F"/>
                </a:solidFill>
              </a:rPr>
              <a:t>Final thought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40379-FC81-4D49-B8EF-4D93FB7F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money is in proof, packaging and recurring contracts.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27B4C-C114-4C74-A57E-7851055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DD6"/>
                </a:solidFill>
              </a:defRPr>
            </a:pPr>
            <a:r>
              <a:rPr sz="1875" b="0">
                <a:solidFill>
                  <a:srgbClr val="D7DDD6"/>
                </a:solidFill>
              </a:rPr>
              <a:t>UCM has enough substance to grow. The next step is to make the digital experience prove it faster than competitors can.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3B40C-BBA1-4EA9-A1A9-2827B05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48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52406-695F-4D3D-9352-A4AA4C3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53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DD6"/>
                </a:solidFill>
              </a:defRPr>
            </a:pPr>
            <a:r>
              <a:rPr sz="1125" b="0">
                <a:solidFill>
                  <a:srgbClr val="D7DDD6"/>
                </a:solidFill>
              </a:rPr>
              <a:t>Sources used: UCM website, UCM LinkedIn, British Cleaning Council, IBISWorld, Mordor Intelligence, Cleanology, Regular Cleaning, Perfect Cleaning.</a:t>
            </a:r>
          </a:p>
        </p:txBody>
      </p:sp>
    </p:spTree>
    <p:extLst>
      <p:ext uri="{BB962C8B-B14F-4D97-AF65-F5344CB8AC3E}">
        <p14:creationId xmlns:p14="http://schemas.microsoft.com/office/powerpoint/2010/main" val="866297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2026-07-16T06:43:24.9610000Z</dcterms:created>
  <dcterms:modified xsi:type="dcterms:W3CDTF">2026-07-16T06:43:24.9610000Z</dcterms:modified>
</coreProperties>
</file>